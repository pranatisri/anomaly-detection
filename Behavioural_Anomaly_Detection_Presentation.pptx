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4" y="1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fused risk score</c:v>
                </c:pt>
              </c:strCache>
            </c:strRef>
          </c:tx>
          <c:spPr>
            <a:ln w="22225">
              <a:solidFill>
                <a:srgbClr val="10141F"/>
              </a:solidFill>
            </a:ln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1</c:v>
                </c:pt>
                <c:pt idx="7">
                  <c:v>8</c:v>
                </c:pt>
                <c:pt idx="14">
                  <c:v>15</c:v>
                </c:pt>
                <c:pt idx="21">
                  <c:v>22</c:v>
                </c:pt>
                <c:pt idx="28">
                  <c:v>29</c:v>
                </c:pt>
                <c:pt idx="35">
                  <c:v>36</c:v>
                </c:pt>
              </c:strCache>
            </c:strRef>
          </c:cat>
          <c:val>
            <c:numRef>
              <c:f>Sheet1!$B$2:$B$43</c:f>
              <c:numCache>
                <c:formatCode>General</c:formatCode>
                <c:ptCount val="42"/>
                <c:pt idx="0">
                  <c:v>1.1000000000000001</c:v>
                </c:pt>
                <c:pt idx="1">
                  <c:v>0.6</c:v>
                </c:pt>
                <c:pt idx="2">
                  <c:v>1.8</c:v>
                </c:pt>
                <c:pt idx="3">
                  <c:v>0.4</c:v>
                </c:pt>
                <c:pt idx="4">
                  <c:v>1.5</c:v>
                </c:pt>
                <c:pt idx="5">
                  <c:v>2</c:v>
                </c:pt>
                <c:pt idx="6">
                  <c:v>0.9</c:v>
                </c:pt>
                <c:pt idx="7">
                  <c:v>1.3</c:v>
                </c:pt>
                <c:pt idx="8">
                  <c:v>0.5</c:v>
                </c:pt>
                <c:pt idx="9">
                  <c:v>1.9</c:v>
                </c:pt>
                <c:pt idx="10">
                  <c:v>1.2</c:v>
                </c:pt>
                <c:pt idx="11">
                  <c:v>0.7</c:v>
                </c:pt>
                <c:pt idx="12">
                  <c:v>2.1</c:v>
                </c:pt>
                <c:pt idx="13">
                  <c:v>1</c:v>
                </c:pt>
                <c:pt idx="14">
                  <c:v>0.3</c:v>
                </c:pt>
                <c:pt idx="15">
                  <c:v>1.6</c:v>
                </c:pt>
                <c:pt idx="16">
                  <c:v>1.4</c:v>
                </c:pt>
                <c:pt idx="17">
                  <c:v>0.8</c:v>
                </c:pt>
                <c:pt idx="18">
                  <c:v>1.7</c:v>
                </c:pt>
                <c:pt idx="19">
                  <c:v>1.1000000000000001</c:v>
                </c:pt>
                <c:pt idx="20">
                  <c:v>0.5</c:v>
                </c:pt>
                <c:pt idx="21">
                  <c:v>2</c:v>
                </c:pt>
                <c:pt idx="22">
                  <c:v>1.3</c:v>
                </c:pt>
                <c:pt idx="23">
                  <c:v>0.6</c:v>
                </c:pt>
                <c:pt idx="24">
                  <c:v>1.5</c:v>
                </c:pt>
                <c:pt idx="25">
                  <c:v>0.9</c:v>
                </c:pt>
                <c:pt idx="26">
                  <c:v>1.8</c:v>
                </c:pt>
                <c:pt idx="27">
                  <c:v>0.4</c:v>
                </c:pt>
                <c:pt idx="28">
                  <c:v>1.2</c:v>
                </c:pt>
                <c:pt idx="29">
                  <c:v>1.6</c:v>
                </c:pt>
                <c:pt idx="30">
                  <c:v>1</c:v>
                </c:pt>
                <c:pt idx="31">
                  <c:v>1.9</c:v>
                </c:pt>
                <c:pt idx="32">
                  <c:v>2.6</c:v>
                </c:pt>
                <c:pt idx="33">
                  <c:v>3.4</c:v>
                </c:pt>
                <c:pt idx="34">
                  <c:v>4.0999999999999996</c:v>
                </c:pt>
                <c:pt idx="35">
                  <c:v>3.2</c:v>
                </c:pt>
                <c:pt idx="36">
                  <c:v>2.4</c:v>
                </c:pt>
                <c:pt idx="37">
                  <c:v>1.3</c:v>
                </c:pt>
                <c:pt idx="38">
                  <c:v>0.8</c:v>
                </c:pt>
                <c:pt idx="39">
                  <c:v>1.5</c:v>
                </c:pt>
                <c:pt idx="40">
                  <c:v>1</c:v>
                </c:pt>
                <c:pt idx="41">
                  <c:v>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25-4702-B70A-BFDB2ECCF7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θ  alert threshold</c:v>
                </c:pt>
              </c:strCache>
            </c:strRef>
          </c:tx>
          <c:spPr>
            <a:ln w="15875">
              <a:solidFill>
                <a:srgbClr val="C43E3E"/>
              </a:solidFill>
              <a:prstDash val="dash"/>
            </a:ln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1</c:v>
                </c:pt>
                <c:pt idx="7">
                  <c:v>8</c:v>
                </c:pt>
                <c:pt idx="14">
                  <c:v>15</c:v>
                </c:pt>
                <c:pt idx="21">
                  <c:v>22</c:v>
                </c:pt>
                <c:pt idx="28">
                  <c:v>29</c:v>
                </c:pt>
                <c:pt idx="35">
                  <c:v>36</c:v>
                </c:pt>
              </c:strCache>
            </c:strRef>
          </c:cat>
          <c:val>
            <c:numRef>
              <c:f>Sheet1!$C$2:$C$43</c:f>
              <c:numCache>
                <c:formatCode>General</c:formatCode>
                <c:ptCount val="42"/>
                <c:pt idx="0">
                  <c:v>2.42</c:v>
                </c:pt>
                <c:pt idx="1">
                  <c:v>2.42</c:v>
                </c:pt>
                <c:pt idx="2">
                  <c:v>2.42</c:v>
                </c:pt>
                <c:pt idx="3">
                  <c:v>2.42</c:v>
                </c:pt>
                <c:pt idx="4">
                  <c:v>2.42</c:v>
                </c:pt>
                <c:pt idx="5">
                  <c:v>2.42</c:v>
                </c:pt>
                <c:pt idx="6">
                  <c:v>2.42</c:v>
                </c:pt>
                <c:pt idx="7">
                  <c:v>2.42</c:v>
                </c:pt>
                <c:pt idx="8">
                  <c:v>2.42</c:v>
                </c:pt>
                <c:pt idx="9">
                  <c:v>2.42</c:v>
                </c:pt>
                <c:pt idx="10">
                  <c:v>2.42</c:v>
                </c:pt>
                <c:pt idx="11">
                  <c:v>2.42</c:v>
                </c:pt>
                <c:pt idx="12">
                  <c:v>2.42</c:v>
                </c:pt>
                <c:pt idx="13">
                  <c:v>2.42</c:v>
                </c:pt>
                <c:pt idx="14">
                  <c:v>2.42</c:v>
                </c:pt>
                <c:pt idx="15">
                  <c:v>2.42</c:v>
                </c:pt>
                <c:pt idx="16">
                  <c:v>2.42</c:v>
                </c:pt>
                <c:pt idx="17">
                  <c:v>2.42</c:v>
                </c:pt>
                <c:pt idx="18">
                  <c:v>2.42</c:v>
                </c:pt>
                <c:pt idx="19">
                  <c:v>2.42</c:v>
                </c:pt>
                <c:pt idx="20">
                  <c:v>2.42</c:v>
                </c:pt>
                <c:pt idx="21">
                  <c:v>2.42</c:v>
                </c:pt>
                <c:pt idx="22">
                  <c:v>2.42</c:v>
                </c:pt>
                <c:pt idx="23">
                  <c:v>2.42</c:v>
                </c:pt>
                <c:pt idx="24">
                  <c:v>2.42</c:v>
                </c:pt>
                <c:pt idx="25">
                  <c:v>2.42</c:v>
                </c:pt>
                <c:pt idx="26">
                  <c:v>2.42</c:v>
                </c:pt>
                <c:pt idx="27">
                  <c:v>2.42</c:v>
                </c:pt>
                <c:pt idx="28">
                  <c:v>2.42</c:v>
                </c:pt>
                <c:pt idx="29">
                  <c:v>2.42</c:v>
                </c:pt>
                <c:pt idx="30">
                  <c:v>2.42</c:v>
                </c:pt>
                <c:pt idx="31">
                  <c:v>2.42</c:v>
                </c:pt>
                <c:pt idx="32">
                  <c:v>2.42</c:v>
                </c:pt>
                <c:pt idx="33">
                  <c:v>2.42</c:v>
                </c:pt>
                <c:pt idx="34">
                  <c:v>2.42</c:v>
                </c:pt>
                <c:pt idx="35">
                  <c:v>2.42</c:v>
                </c:pt>
                <c:pt idx="36">
                  <c:v>2.42</c:v>
                </c:pt>
                <c:pt idx="37">
                  <c:v>2.42</c:v>
                </c:pt>
                <c:pt idx="38">
                  <c:v>2.42</c:v>
                </c:pt>
                <c:pt idx="39">
                  <c:v>2.42</c:v>
                </c:pt>
                <c:pt idx="40">
                  <c:v>2.42</c:v>
                </c:pt>
                <c:pt idx="41">
                  <c:v>2.42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25-4702-B70A-BFDB2ECCF7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"/>
          <c:min val="0"/>
        </c:scaling>
        <c:delete val="0"/>
        <c:axPos val="l"/>
        <c:majorGridlines>
          <c:spPr>
            <a:ln w="9525">
              <a:solidFill>
                <a:srgbClr val="E4E8E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50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44506B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Precision@1%</c:v>
                </c:pt>
              </c:strCache>
            </c:strRef>
          </c:tx>
          <c:spPr>
            <a:ln w="28575">
              <a:solidFill>
                <a:srgbClr val="10141F"/>
              </a:solidFill>
            </a:ln>
          </c:spPr>
          <c:cat>
            <c:strRef>
              <c:f>Sheet1!$A$2:$A$6</c:f>
              <c:strCache>
                <c:ptCount val="5"/>
                <c:pt idx="0">
                  <c:v>0.00
blatant</c:v>
                </c:pt>
                <c:pt idx="1">
                  <c:v>0.25</c:v>
                </c:pt>
                <c:pt idx="2">
                  <c:v>0.50</c:v>
                </c:pt>
                <c:pt idx="3">
                  <c:v>0.75</c:v>
                </c:pt>
                <c:pt idx="4">
                  <c:v>1.00
overlaps benign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0.96499999999999997</c:v>
                </c:pt>
                <c:pt idx="1">
                  <c:v>0.93799999999999994</c:v>
                </c:pt>
                <c:pt idx="2">
                  <c:v>0.86699999999999999</c:v>
                </c:pt>
                <c:pt idx="3">
                  <c:v>0.74199999999999999</c:v>
                </c:pt>
                <c:pt idx="4">
                  <c:v>0.56100000000000005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A2-49F5-8472-5EFE790EF0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PR-AUC</c:v>
                </c:pt>
              </c:strCache>
            </c:strRef>
          </c:tx>
          <c:spPr>
            <a:ln w="28575">
              <a:solidFill>
                <a:srgbClr val="C43E3E"/>
              </a:solidFill>
            </a:ln>
          </c:spPr>
          <c:cat>
            <c:strRef>
              <c:f>Sheet1!$A$2:$A$6</c:f>
              <c:strCache>
                <c:ptCount val="5"/>
                <c:pt idx="0">
                  <c:v>0.00
blatant</c:v>
                </c:pt>
                <c:pt idx="1">
                  <c:v>0.25</c:v>
                </c:pt>
                <c:pt idx="2">
                  <c:v>0.50</c:v>
                </c:pt>
                <c:pt idx="3">
                  <c:v>0.75</c:v>
                </c:pt>
                <c:pt idx="4">
                  <c:v>1.00
overlaps benign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0.69899999999999995</c:v>
                </c:pt>
                <c:pt idx="1">
                  <c:v>0.68700000000000006</c:v>
                </c:pt>
                <c:pt idx="2">
                  <c:v>0.64300000000000002</c:v>
                </c:pt>
                <c:pt idx="3">
                  <c:v>0.55000000000000004</c:v>
                </c:pt>
                <c:pt idx="4">
                  <c:v>0.39200000000000002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A2-49F5-8472-5EFE790EF0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4E8E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50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44506B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nomaly-detection-gdahlrwllymdpfnxax86y5.streamlit.ap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6F4449-F082-03AB-0A98-CEA28ECB0A09}"/>
              </a:ext>
            </a:extLst>
          </p:cNvPr>
          <p:cNvSpPr txBox="1"/>
          <p:nvPr/>
        </p:nvSpPr>
        <p:spPr>
          <a:xfrm>
            <a:off x="502920" y="603504"/>
            <a:ext cx="11186129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10141F"/>
                </a:solidFill>
                <a:latin typeface="Times New Roman"/>
              </a:rPr>
              <a:t>AI-POWERED BEHAVIOURAL ANOMALY DETECTION</a:t>
            </a:r>
            <a:r>
              <a:rPr lang="en-US" sz="3000" b="1" i="0" dirty="0">
                <a:solidFill>
                  <a:srgbClr val="10141F"/>
                </a:solidFill>
                <a:latin typeface="Times New Roman"/>
              </a:rPr>
              <a:t> FOR CYBERSECURITY</a:t>
            </a:r>
            <a:endParaRPr sz="3000" b="1" i="0" dirty="0">
              <a:solidFill>
                <a:srgbClr val="10141F"/>
              </a:solidFill>
              <a:latin typeface="Times New Roman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C8FFD1-DCF3-8900-7E66-5CD6BCED684F}"/>
              </a:ext>
            </a:extLst>
          </p:cNvPr>
          <p:cNvSpPr/>
          <p:nvPr/>
        </p:nvSpPr>
        <p:spPr>
          <a:xfrm>
            <a:off x="502920" y="1645920"/>
            <a:ext cx="1920240" cy="32004"/>
          </a:xfrm>
          <a:prstGeom prst="rect">
            <a:avLst/>
          </a:prstGeom>
          <a:solidFill>
            <a:srgbClr val="C4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DBEE59-5088-71A4-307E-18232E9B87BE}"/>
              </a:ext>
            </a:extLst>
          </p:cNvPr>
          <p:cNvSpPr txBox="1"/>
          <p:nvPr/>
        </p:nvSpPr>
        <p:spPr>
          <a:xfrm>
            <a:off x="502920" y="2029968"/>
            <a:ext cx="5074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1" dirty="0">
                <a:solidFill>
                  <a:srgbClr val="10141F"/>
                </a:solidFill>
                <a:latin typeface="Arial"/>
              </a:rPr>
              <a:t>Problem Statement Number – </a:t>
            </a:r>
            <a:r>
              <a:rPr sz="1300" b="0" dirty="0">
                <a:solidFill>
                  <a:srgbClr val="44506B"/>
                </a:solidFill>
                <a:latin typeface="Arial"/>
              </a:rPr>
              <a:t>4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1" dirty="0">
                <a:solidFill>
                  <a:srgbClr val="10141F"/>
                </a:solidFill>
                <a:latin typeface="Arial"/>
              </a:rPr>
              <a:t>Problem Statement Title – </a:t>
            </a:r>
            <a:r>
              <a:rPr sz="1300" b="0" dirty="0">
                <a:solidFill>
                  <a:srgbClr val="44506B"/>
                </a:solidFill>
                <a:latin typeface="Arial"/>
              </a:rPr>
              <a:t>AI-Powered Behavioral Anomaly Detection for Cybersecurity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1" dirty="0">
                <a:solidFill>
                  <a:srgbClr val="10141F"/>
                </a:solidFill>
                <a:latin typeface="Arial"/>
              </a:rPr>
              <a:t>Student Name – </a:t>
            </a:r>
            <a:r>
              <a:rPr sz="1300" b="0" dirty="0">
                <a:solidFill>
                  <a:srgbClr val="44506B"/>
                </a:solidFill>
                <a:latin typeface="Arial"/>
              </a:rPr>
              <a:t>Pranati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93BE54-D9E4-BA7F-DBD6-DBCB9D10C985}"/>
              </a:ext>
            </a:extLst>
          </p:cNvPr>
          <p:cNvSpPr/>
          <p:nvPr/>
        </p:nvSpPr>
        <p:spPr>
          <a:xfrm>
            <a:off x="502920" y="3657600"/>
            <a:ext cx="5074920" cy="11887"/>
          </a:xfrm>
          <a:prstGeom prst="rect">
            <a:avLst/>
          </a:prstGeom>
          <a:solidFill>
            <a:srgbClr val="D2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70FDDA-F8FC-8011-E56D-22AD25FC276E}"/>
              </a:ext>
            </a:extLst>
          </p:cNvPr>
          <p:cNvSpPr txBox="1"/>
          <p:nvPr/>
        </p:nvSpPr>
        <p:spPr>
          <a:xfrm>
            <a:off x="502920" y="3822191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3E3E"/>
                </a:solidFill>
                <a:latin typeface="Arial"/>
              </a:rPr>
              <a:t>MEASURED ON FIVE HELD-OUT SEEDS, HASH-FROZEN CONFIG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2AA2B1-ACF0-4182-0D25-D5B07ED5DD68}"/>
              </a:ext>
            </a:extLst>
          </p:cNvPr>
          <p:cNvSpPr txBox="1"/>
          <p:nvPr/>
        </p:nvSpPr>
        <p:spPr>
          <a:xfrm>
            <a:off x="502920" y="4133087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141F"/>
                </a:solidFill>
                <a:latin typeface="Times New Roman"/>
              </a:rPr>
              <a:t>0.613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AEB52E-E7A0-D049-9923-001A2C0AE101}"/>
              </a:ext>
            </a:extLst>
          </p:cNvPr>
          <p:cNvSpPr txBox="1"/>
          <p:nvPr/>
        </p:nvSpPr>
        <p:spPr>
          <a:xfrm>
            <a:off x="502920" y="459028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06B"/>
                </a:solidFill>
                <a:latin typeface="Arial"/>
              </a:rPr>
              <a:t>PR-AUC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06B"/>
                </a:solidFill>
                <a:latin typeface="Arial"/>
              </a:rPr>
              <a:t>37× random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9CB73E-1326-7C1E-6C7C-85ED2B7F08B7}"/>
              </a:ext>
            </a:extLst>
          </p:cNvPr>
          <p:cNvSpPr txBox="1"/>
          <p:nvPr/>
        </p:nvSpPr>
        <p:spPr>
          <a:xfrm>
            <a:off x="2212848" y="4133087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141F"/>
                </a:solidFill>
                <a:latin typeface="Times New Roman"/>
              </a:rPr>
              <a:t>0.837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D4C2E6-D77E-1D41-A4C5-C5585C09D723}"/>
              </a:ext>
            </a:extLst>
          </p:cNvPr>
          <p:cNvSpPr txBox="1"/>
          <p:nvPr/>
        </p:nvSpPr>
        <p:spPr>
          <a:xfrm>
            <a:off x="2212848" y="459028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06B"/>
                </a:solidFill>
                <a:latin typeface="Arial"/>
              </a:rPr>
              <a:t>incident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06B"/>
                </a:solidFill>
                <a:latin typeface="Arial"/>
              </a:rPr>
              <a:t>recall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48E3FB-0A42-9986-9B2D-C9544BBC0403}"/>
              </a:ext>
            </a:extLst>
          </p:cNvPr>
          <p:cNvSpPr txBox="1"/>
          <p:nvPr/>
        </p:nvSpPr>
        <p:spPr>
          <a:xfrm>
            <a:off x="3922776" y="4133087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7A5A"/>
                </a:solidFill>
                <a:latin typeface="Times New Roman"/>
              </a:rPr>
              <a:t>0.43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D776F9-3515-BE09-5C4C-49068CBEFF43}"/>
              </a:ext>
            </a:extLst>
          </p:cNvPr>
          <p:cNvSpPr txBox="1"/>
          <p:nvPr/>
        </p:nvSpPr>
        <p:spPr>
          <a:xfrm>
            <a:off x="3922776" y="459028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06B"/>
                </a:solidFill>
                <a:latin typeface="Arial"/>
              </a:rPr>
              <a:t>leakage gate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06B"/>
                </a:solidFill>
                <a:latin typeface="Arial"/>
              </a:rPr>
              <a:t>≤0.60 to pass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A1B26A-3755-7582-76EE-A5088C99CC87}"/>
              </a:ext>
            </a:extLst>
          </p:cNvPr>
          <p:cNvSpPr txBox="1"/>
          <p:nvPr/>
        </p:nvSpPr>
        <p:spPr>
          <a:xfrm>
            <a:off x="5989320" y="1956816"/>
            <a:ext cx="56967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3E3E"/>
                </a:solidFill>
                <a:latin typeface="Arial"/>
              </a:rPr>
              <a:t>WHAT THE DETECTOR SEES — ONE ENTITY, 42 DAYS</a:t>
            </a:r>
          </a:p>
        </p:txBody>
      </p:sp>
      <p:graphicFrame>
        <p:nvGraphicFramePr>
          <p:cNvPr id="46" name="Chart 45">
            <a:extLst>
              <a:ext uri="{FF2B5EF4-FFF2-40B4-BE49-F238E27FC236}">
                <a16:creationId xmlns:a16="http://schemas.microsoft.com/office/drawing/2014/main" id="{D14237CD-F5BE-B6BB-E939-D3FF6D784A55}"/>
              </a:ext>
            </a:extLst>
          </p:cNvPr>
          <p:cNvGraphicFramePr>
            <a:graphicFrameLocks noGrp="1"/>
          </p:cNvGraphicFramePr>
          <p:nvPr/>
        </p:nvGraphicFramePr>
        <p:xfrm>
          <a:off x="5870448" y="2231136"/>
          <a:ext cx="5815584" cy="2962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502920" y="128016"/>
            <a:ext cx="11186129" cy="841248"/>
          </a:xfrm>
        </p:spPr>
        <p:txBody>
          <a:bodyPr wrap="square"/>
          <a:lstStyle/>
          <a:p>
            <a:pPr algn="l" eaLnBrk="1" hangingPunct="1"/>
            <a:r>
              <a:rPr sz="3200" b="1">
                <a:solidFill>
                  <a:srgbClr val="10141F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362" name="TextBox 15361"/>
          <p:cNvSpPr txBox="1"/>
          <p:nvPr/>
        </p:nvSpPr>
        <p:spPr>
          <a:xfrm>
            <a:off x="502920" y="1060704"/>
            <a:ext cx="1118612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Arial"/>
              </a:rPr>
              <a:t>Per-entity behavioural baselines → 21 named signals → correlation-corrected fusion → </a:t>
            </a:r>
            <a:r>
              <a:rPr sz="1300" b="1">
                <a:solidFill>
                  <a:srgbClr val="10141F"/>
                </a:solidFill>
                <a:latin typeface="Arial"/>
              </a:rPr>
              <a:t>typed, explainable alerts at a fixed analyst budget.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502920" y="1591056"/>
            <a:ext cx="111861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3E3E"/>
                </a:solidFill>
                <a:latin typeface="Arial"/>
              </a:rPr>
              <a:t>HOW IT ADDRESSES THE PROBLEM — three detection levels, never pooled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502920" y="1920240"/>
            <a:ext cx="3570213" cy="1755648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9525">
            <a:solidFill>
              <a:srgbClr val="D2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5" name="Rounded Rectangle 15364"/>
          <p:cNvSpPr/>
          <p:nvPr/>
        </p:nvSpPr>
        <p:spPr>
          <a:xfrm>
            <a:off x="685800" y="2084831"/>
            <a:ext cx="1188720" cy="246888"/>
          </a:xfrm>
          <a:prstGeom prst="roundRect">
            <a:avLst>
              <a:gd name="adj" fmla="val 28000"/>
            </a:avLst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ENTITY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1947672" y="210312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3E3E"/>
                </a:solidFill>
                <a:latin typeface="Arial"/>
              </a:rPr>
              <a:t>13 signals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685800" y="2450592"/>
            <a:ext cx="320445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0141F"/>
                </a:solidFill>
                <a:latin typeface="Arial"/>
              </a:rPr>
              <a:t>Habitual hours, known IPs, geo-velocity, device fingerprint, resource novelty.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685800" y="3127248"/>
            <a:ext cx="320445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44506B"/>
                </a:solidFill>
                <a:latin typeface="Arial"/>
              </a:rPr>
              <a:t>Catches lateral movement, spoofing, impossible travel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310877" y="1920240"/>
            <a:ext cx="3570213" cy="1755648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9525">
            <a:solidFill>
              <a:srgbClr val="D2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0" name="Rounded Rectangle 15369"/>
          <p:cNvSpPr/>
          <p:nvPr/>
        </p:nvSpPr>
        <p:spPr>
          <a:xfrm>
            <a:off x="4493757" y="2084831"/>
            <a:ext cx="1188720" cy="246888"/>
          </a:xfrm>
          <a:prstGeom prst="roundRect">
            <a:avLst>
              <a:gd name="adj" fmla="val 28000"/>
            </a:avLst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SOURCE IP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5755629" y="210312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3E3E"/>
                </a:solidFill>
                <a:latin typeface="Arial"/>
              </a:rPr>
              <a:t>3 signals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4493757" y="2450592"/>
            <a:ext cx="320445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0141F"/>
                </a:solidFill>
                <a:latin typeface="Arial"/>
              </a:rPr>
              <a:t>Entity fan-out and failure rate per IP over rolling windows.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4493757" y="3127248"/>
            <a:ext cx="320445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44506B"/>
                </a:solidFill>
                <a:latin typeface="Arial"/>
              </a:rPr>
              <a:t>Credential stuffing exists ONLY here — many entities, few IPs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8118835" y="1920240"/>
            <a:ext cx="3570213" cy="1755648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9525">
            <a:solidFill>
              <a:srgbClr val="D2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5" name="Rounded Rectangle 15374"/>
          <p:cNvSpPr/>
          <p:nvPr/>
        </p:nvSpPr>
        <p:spPr>
          <a:xfrm>
            <a:off x="8301715" y="2084831"/>
            <a:ext cx="1188720" cy="246888"/>
          </a:xfrm>
          <a:prstGeom prst="roundRect">
            <a:avLst>
              <a:gd name="adj" fmla="val 28000"/>
            </a:avLst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LONG WINDOW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9563587" y="210312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3E3E"/>
                </a:solidFill>
                <a:latin typeface="Arial"/>
              </a:rPr>
              <a:t>5 signals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8301715" y="2450592"/>
            <a:ext cx="320445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0141F"/>
                </a:solidFill>
                <a:latin typeface="Arial"/>
              </a:rPr>
              <a:t>7-day footprint growth, off-hours share, sensitive-access volume.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8301715" y="3127248"/>
            <a:ext cx="320445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44506B"/>
                </a:solidFill>
                <a:latin typeface="Arial"/>
              </a:rPr>
              <a:t>Low-and-slow is unremarkable per event; only days reveal it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502920" y="3767328"/>
            <a:ext cx="111861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4506B"/>
                </a:solidFill>
                <a:latin typeface="Arial"/>
              </a:rPr>
              <a:t>A per-event, per-entity detector misses two of six attack classes by construction — no matter how good the model is.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502920" y="4224528"/>
            <a:ext cx="11186129" cy="1755648"/>
          </a:xfrm>
          <a:prstGeom prst="roundRect">
            <a:avLst>
              <a:gd name="adj" fmla="val 6000"/>
            </a:avLst>
          </a:prstGeom>
          <a:solidFill>
            <a:srgbClr val="10141F"/>
          </a:solidFill>
          <a:ln w="9525">
            <a:solidFill>
              <a:srgbClr val="101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1" name="TextBox 15380"/>
          <p:cNvSpPr txBox="1"/>
          <p:nvPr/>
        </p:nvSpPr>
        <p:spPr>
          <a:xfrm>
            <a:off x="795528" y="4443984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E8E"/>
                </a:solidFill>
                <a:latin typeface="Arial"/>
              </a:rPr>
              <a:t>INNOVATION — THE BENCHMARK POLICES ITSELF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795528" y="4773168"/>
            <a:ext cx="6035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A synthetic benchmark can be solved without doing detection at all.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EDE"/>
                </a:solidFill>
                <a:latin typeface="Arial"/>
              </a:rPr>
              <a:t>An adversarial audit hands a classifier only features that carry no behavioural information — row position, string lengths, field-presence flags — and must score ≤ 0.60. It failed at 0.9963 and exposed four leaks.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6903720" y="449884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6903720" y="4974336"/>
            <a:ext cx="14813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6BE"/>
                </a:solidFill>
                <a:latin typeface="Arial"/>
              </a:rPr>
              <a:t>leaks caught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8476488" y="449884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8476488" y="4974336"/>
            <a:ext cx="14813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6BE"/>
                </a:solidFill>
                <a:latin typeface="Arial"/>
              </a:rPr>
              <a:t>full regenerations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10049256" y="449884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10049256" y="4974336"/>
            <a:ext cx="14813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6BE"/>
                </a:solidFill>
                <a:latin typeface="Arial"/>
              </a:rPr>
              <a:t>introduced by our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6BE"/>
                </a:solidFill>
                <a:latin typeface="Arial"/>
              </a:rPr>
              <a:t>own correct fixes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2920" y="128016"/>
            <a:ext cx="11186129" cy="841248"/>
          </a:xfrm>
        </p:spPr>
        <p:txBody>
          <a:bodyPr wrap="square"/>
          <a:lstStyle/>
          <a:p>
            <a:pPr algn="l" eaLnBrk="1" hangingPunct="1"/>
            <a:r>
              <a:rPr sz="3200" b="1">
                <a:solidFill>
                  <a:srgbClr val="10141F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410" name="TextBox 17409"/>
          <p:cNvSpPr txBox="1"/>
          <p:nvPr/>
        </p:nvSpPr>
        <p:spPr>
          <a:xfrm>
            <a:off x="502920" y="1060704"/>
            <a:ext cx="111861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3E3E"/>
                </a:solidFill>
                <a:latin typeface="Arial"/>
              </a:rPr>
              <a:t>TECHNOLOGIES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353312"/>
            <a:ext cx="826617" cy="283464"/>
          </a:xfrm>
          <a:prstGeom prst="roundRect">
            <a:avLst>
              <a:gd name="adj" fmla="val 2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000" b="0">
                <a:solidFill>
                  <a:srgbClr val="10141F"/>
                </a:solidFill>
                <a:latin typeface="Arial"/>
              </a:rPr>
              <a:t>Python 3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1457553" y="1353312"/>
            <a:ext cx="1309420" cy="283464"/>
          </a:xfrm>
          <a:prstGeom prst="roundRect">
            <a:avLst>
              <a:gd name="adj" fmla="val 2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000" b="0">
                <a:solidFill>
                  <a:srgbClr val="10141F"/>
                </a:solidFill>
                <a:latin typeface="Arial"/>
              </a:rPr>
              <a:t>NumPy / pandas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894990" y="1353312"/>
            <a:ext cx="826617" cy="283464"/>
          </a:xfrm>
          <a:prstGeom prst="roundRect">
            <a:avLst>
              <a:gd name="adj" fmla="val 2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000" b="0">
                <a:solidFill>
                  <a:srgbClr val="10141F"/>
                </a:solidFill>
                <a:latin typeface="Arial"/>
              </a:rPr>
              <a:t>LightGBM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849624" y="1353312"/>
            <a:ext cx="907084" cy="283464"/>
          </a:xfrm>
          <a:prstGeom prst="roundRect">
            <a:avLst>
              <a:gd name="adj" fmla="val 2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000" b="0">
                <a:solidFill>
                  <a:srgbClr val="10141F"/>
                </a:solidFill>
                <a:latin typeface="Arial"/>
              </a:rPr>
              <a:t>Streamlit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884724" y="1353312"/>
            <a:ext cx="746150" cy="283464"/>
          </a:xfrm>
          <a:prstGeom prst="roundRect">
            <a:avLst>
              <a:gd name="adj" fmla="val 2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000" b="0">
                <a:solidFill>
                  <a:srgbClr val="10141F"/>
                </a:solidFill>
                <a:latin typeface="Arial"/>
              </a:rPr>
              <a:t>Parquet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758891" y="1353312"/>
            <a:ext cx="1148486" cy="283464"/>
          </a:xfrm>
          <a:prstGeom prst="roundRect">
            <a:avLst>
              <a:gd name="adj" fmla="val 2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000" b="0">
                <a:solidFill>
                  <a:srgbClr val="10141F"/>
                </a:solidFill>
                <a:latin typeface="Arial"/>
              </a:rPr>
              <a:t>scikit-learn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035393" y="1353312"/>
            <a:ext cx="987551" cy="283464"/>
          </a:xfrm>
          <a:prstGeom prst="roundRect">
            <a:avLst>
              <a:gd name="adj" fmla="val 2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000" b="0">
                <a:solidFill>
                  <a:srgbClr val="10141F"/>
                </a:solidFill>
                <a:latin typeface="Arial"/>
              </a:rPr>
              <a:t>Matplotlib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02920" y="1810512"/>
            <a:ext cx="111861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3E3E"/>
                </a:solidFill>
                <a:latin typeface="Arial"/>
              </a:rPr>
              <a:t>METHODOLOGY — layered pipeline, every signal a named unit-ed quantity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02920" y="2121408"/>
            <a:ext cx="1476533" cy="1481328"/>
          </a:xfrm>
          <a:prstGeom prst="roundRect">
            <a:avLst>
              <a:gd name="adj" fmla="val 6000"/>
            </a:avLst>
          </a:prstGeom>
          <a:solidFill>
            <a:srgbClr val="10141F"/>
          </a:solidFill>
          <a:ln w="9525">
            <a:solidFill>
              <a:srgbClr val="101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621792" y="2249424"/>
            <a:ext cx="123878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8E8E"/>
                </a:solidFill>
                <a:latin typeface="Times New Roman"/>
              </a:rPr>
              <a:t>L0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21792" y="2542032"/>
            <a:ext cx="123878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Deterministic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21792" y="2816352"/>
            <a:ext cx="1238789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CEDE"/>
                </a:solidFill>
                <a:latin typeface="Arial"/>
              </a:rPr>
              <a:t>Geo-velocity, failed-auth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CEDE"/>
                </a:solidFill>
                <a:latin typeface="Arial"/>
              </a:rPr>
              <a:t>rate, fingerprint mismatch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986769" y="2724912"/>
            <a:ext cx="1417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2D8E3"/>
                </a:solidFill>
                <a:latin typeface="Arial"/>
              </a:rPr>
              <a:t>›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2121185" y="2121408"/>
            <a:ext cx="1476533" cy="1481328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9525">
            <a:solidFill>
              <a:srgbClr val="D2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2240057" y="2249424"/>
            <a:ext cx="123878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3E3E"/>
                </a:solidFill>
                <a:latin typeface="Times New Roman"/>
              </a:rPr>
              <a:t>L1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2240057" y="2542032"/>
            <a:ext cx="123878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41F"/>
                </a:solidFill>
                <a:latin typeface="Arial"/>
              </a:rPr>
              <a:t>Baseline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2240057" y="2816352"/>
            <a:ext cx="1238789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Per-entity profile,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cold-start shrinkage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3605035" y="2724912"/>
            <a:ext cx="1417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2D8E3"/>
                </a:solidFill>
                <a:latin typeface="Arial"/>
              </a:rPr>
              <a:t>›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739451" y="2121408"/>
            <a:ext cx="1476533" cy="1481328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9525">
            <a:solidFill>
              <a:srgbClr val="D2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3858323" y="2249424"/>
            <a:ext cx="123878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3E3E"/>
                </a:solidFill>
                <a:latin typeface="Times New Roman"/>
              </a:rPr>
              <a:t>L2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3858323" y="2542032"/>
            <a:ext cx="123878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41F"/>
                </a:solidFill>
                <a:latin typeface="Arial"/>
              </a:rPr>
              <a:t>Sequence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858323" y="2816352"/>
            <a:ext cx="1238789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n-gram surprisal over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a typed token stream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5223300" y="2724912"/>
            <a:ext cx="1417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2D8E3"/>
                </a:solidFill>
                <a:latin typeface="Arial"/>
              </a:rPr>
              <a:t>›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5357717" y="2121408"/>
            <a:ext cx="1476533" cy="1481328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9525">
            <a:solidFill>
              <a:srgbClr val="D2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5476589" y="2249424"/>
            <a:ext cx="123878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3E3E"/>
                </a:solidFill>
                <a:latin typeface="Times New Roman"/>
              </a:rPr>
              <a:t>L3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476589" y="2542032"/>
            <a:ext cx="123878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41F"/>
                </a:solidFill>
                <a:latin typeface="Arial"/>
              </a:rPr>
              <a:t>Graph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5476589" y="2816352"/>
            <a:ext cx="1238789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Entity–resource edges,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cohort corroboration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841566" y="2724912"/>
            <a:ext cx="1417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2D8E3"/>
                </a:solidFill>
                <a:latin typeface="Arial"/>
              </a:rPr>
              <a:t>›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975983" y="2121408"/>
            <a:ext cx="1476533" cy="1481328"/>
          </a:xfrm>
          <a:prstGeom prst="roundRect">
            <a:avLst>
              <a:gd name="adj" fmla="val 6000"/>
            </a:avLst>
          </a:prstGeom>
          <a:solidFill>
            <a:srgbClr val="10141F"/>
          </a:solidFill>
          <a:ln w="9525">
            <a:solidFill>
              <a:srgbClr val="101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0" name="TextBox 17439"/>
          <p:cNvSpPr txBox="1"/>
          <p:nvPr/>
        </p:nvSpPr>
        <p:spPr>
          <a:xfrm>
            <a:off x="7094855" y="2249424"/>
            <a:ext cx="123878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8E8E"/>
                </a:solidFill>
                <a:latin typeface="Times New Roman"/>
              </a:rPr>
              <a:t>L4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094855" y="2542032"/>
            <a:ext cx="123878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Fusion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7094855" y="2816352"/>
            <a:ext cx="1238789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CEDE"/>
                </a:solidFill>
                <a:latin typeface="Arial"/>
              </a:rPr>
              <a:t>Correlation-corrected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CEDE"/>
                </a:solidFill>
                <a:latin typeface="Arial"/>
              </a:rPr>
              <a:t>Stouffer → risk score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8459832" y="2724912"/>
            <a:ext cx="1417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2D8E3"/>
                </a:solidFill>
                <a:latin typeface="Arial"/>
              </a:rPr>
              <a:t>›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8594249" y="2121408"/>
            <a:ext cx="1476533" cy="1481328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9525">
            <a:solidFill>
              <a:srgbClr val="D2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TextBox 17444"/>
          <p:cNvSpPr txBox="1"/>
          <p:nvPr/>
        </p:nvSpPr>
        <p:spPr>
          <a:xfrm>
            <a:off x="8713121" y="2249424"/>
            <a:ext cx="123878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3E3E"/>
                </a:solidFill>
                <a:latin typeface="Times New Roman"/>
              </a:rPr>
              <a:t>L5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8713121" y="2542032"/>
            <a:ext cx="123878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41F"/>
                </a:solidFill>
                <a:latin typeface="Arial"/>
              </a:rPr>
              <a:t>Type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713121" y="2816352"/>
            <a:ext cx="1238789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Rule-based attribution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over the evidence vector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10078098" y="2724912"/>
            <a:ext cx="1417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2D8E3"/>
                </a:solidFill>
                <a:latin typeface="Arial"/>
              </a:rPr>
              <a:t>›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10212515" y="2121408"/>
            <a:ext cx="1476533" cy="1481328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9525">
            <a:solidFill>
              <a:srgbClr val="D2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0" name="TextBox 17449"/>
          <p:cNvSpPr txBox="1"/>
          <p:nvPr/>
        </p:nvSpPr>
        <p:spPr>
          <a:xfrm>
            <a:off x="10331387" y="2249424"/>
            <a:ext cx="123878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3E3E"/>
                </a:solidFill>
                <a:latin typeface="Times New Roman"/>
              </a:rPr>
              <a:t>L6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10331387" y="2542032"/>
            <a:ext cx="123878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41F"/>
                </a:solidFill>
                <a:latin typeface="Arial"/>
              </a:rPr>
              <a:t>Explain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10331387" y="2816352"/>
            <a:ext cx="1238789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Ranked signals →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analyst-facing text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502920" y="3785615"/>
            <a:ext cx="111861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3E3E"/>
                </a:solidFill>
                <a:latin typeface="Arial"/>
              </a:rPr>
              <a:t>KEY METHODS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502920" y="4078224"/>
            <a:ext cx="358240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41F"/>
                </a:solidFill>
                <a:latin typeface="Arial"/>
              </a:rPr>
              <a:t>Correlation-corrected Stouffer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502920" y="4352544"/>
            <a:ext cx="3582405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06B"/>
                </a:solidFill>
                <a:latin typeface="Arial"/>
              </a:rPr>
              <a:t>Z = (w·z)/√(wᵀΣw). Geo-velocity and country-novelty both fire on impossible travel — a plain sum counts one event as three alarms.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4304781" y="4078224"/>
            <a:ext cx="358240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41F"/>
                </a:solidFill>
                <a:latin typeface="Arial"/>
              </a:rPr>
              <a:t>Size-calibrated alert scoring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4304781" y="4352544"/>
            <a:ext cx="3582405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06B"/>
                </a:solidFill>
                <a:latin typeface="Arial"/>
              </a:rPr>
              <a:t>A 200-event window gets 200 chances at a high score. Calibrating against same-size alerts cut corr(score, size) from 0.263 to 0.042.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8106643" y="4078224"/>
            <a:ext cx="358240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41F"/>
                </a:solidFill>
                <a:latin typeface="Arial"/>
              </a:rPr>
              <a:t>Weights never learned from labels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8106643" y="4352544"/>
            <a:ext cx="3582405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06B"/>
                </a:solidFill>
                <a:latin typeface="Arial"/>
              </a:rPr>
              <a:t>Analyst priors ÷ an unsupervised reliability term. Learning them would be learning the generator’s wiring diagram.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502920" y="5266944"/>
            <a:ext cx="11186129" cy="11887"/>
          </a:xfrm>
          <a:prstGeom prst="rect">
            <a:avLst/>
          </a:prstGeom>
          <a:solidFill>
            <a:srgbClr val="D2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1" name="TextBox 17460"/>
          <p:cNvSpPr txBox="1"/>
          <p:nvPr/>
        </p:nvSpPr>
        <p:spPr>
          <a:xfrm>
            <a:off x="502920" y="54315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3E3E"/>
                </a:solidFill>
                <a:latin typeface="Arial"/>
              </a:rPr>
              <a:t>STREAMING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2834639" y="5358384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141F"/>
                </a:solidFill>
                <a:latin typeface="Times New Roman"/>
              </a:rPr>
              <a:t>3,281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2834639" y="5788152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06B"/>
                </a:solidFill>
                <a:latin typeface="Arial"/>
              </a:rPr>
              <a:t>events / sec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4636007" y="5358384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141F"/>
                </a:solidFill>
                <a:latin typeface="Times New Roman"/>
              </a:rPr>
              <a:t>0.27 ms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4636007" y="5788152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06B"/>
                </a:solidFill>
                <a:latin typeface="Arial"/>
              </a:rPr>
              <a:t>p50 latency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6437375" y="5358384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141F"/>
                </a:solidFill>
                <a:latin typeface="Times New Roman"/>
              </a:rPr>
              <a:t>0.75 ms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6437375" y="5788152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06B"/>
                </a:solidFill>
                <a:latin typeface="Arial"/>
              </a:rPr>
              <a:t>p99 latency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8238744" y="5358384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141F"/>
                </a:solidFill>
                <a:latin typeface="Times New Roman"/>
              </a:rPr>
              <a:t>1.3 kB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8238744" y="5788152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06B"/>
                </a:solidFill>
                <a:latin typeface="Arial"/>
              </a:rPr>
              <a:t>state per entity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10040112" y="5358384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141F"/>
                </a:solidFill>
                <a:latin typeface="Times New Roman"/>
              </a:rPr>
              <a:t>O(1)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10040112" y="5788152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06B"/>
                </a:solidFill>
                <a:latin typeface="Arial"/>
              </a:rPr>
              <a:t>state per event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2920" y="128016"/>
            <a:ext cx="11186129" cy="841248"/>
          </a:xfrm>
        </p:spPr>
        <p:txBody>
          <a:bodyPr wrap="square"/>
          <a:lstStyle/>
          <a:p>
            <a:pPr algn="l" eaLnBrk="1" hangingPunct="1"/>
            <a:r>
              <a:rPr sz="3200" b="1">
                <a:solidFill>
                  <a:srgbClr val="10141F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17409"/>
          <p:cNvSpPr txBox="1"/>
          <p:nvPr/>
        </p:nvSpPr>
        <p:spPr>
          <a:xfrm>
            <a:off x="502920" y="1042415"/>
            <a:ext cx="111861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3E3E"/>
                </a:solidFill>
                <a:latin typeface="Arial"/>
              </a:rPr>
              <a:t>FEASIBILITY — built, measured, and validated on seeds never used for fitting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335024"/>
            <a:ext cx="2076291" cy="969264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9525">
            <a:solidFill>
              <a:srgbClr val="D2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49224" y="1444752"/>
            <a:ext cx="178368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0141F"/>
                </a:solidFill>
                <a:latin typeface="Times New Roman"/>
              </a:rPr>
              <a:t>0.837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49224" y="1847088"/>
            <a:ext cx="178368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incident recall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holdout, 5 seeds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780379" y="1335024"/>
            <a:ext cx="2076291" cy="969264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9525">
            <a:solidFill>
              <a:srgbClr val="D2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2926683" y="1444752"/>
            <a:ext cx="178368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0141F"/>
                </a:solidFill>
                <a:latin typeface="Times New Roman"/>
              </a:rPr>
              <a:t>0.613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2926683" y="1847088"/>
            <a:ext cx="178368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PR-AUC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37× random baseline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057839" y="1335024"/>
            <a:ext cx="2076291" cy="969264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9525">
            <a:solidFill>
              <a:srgbClr val="D2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5204143" y="1444752"/>
            <a:ext cx="178368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0141F"/>
                </a:solidFill>
                <a:latin typeface="Times New Roman"/>
              </a:rPr>
              <a:t>0.570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204143" y="1847088"/>
            <a:ext cx="178368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R-Precision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no ceiling artefact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7335298" y="1335024"/>
            <a:ext cx="2076291" cy="969264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9525">
            <a:solidFill>
              <a:srgbClr val="D2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7481602" y="1444752"/>
            <a:ext cx="178368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7A5A"/>
                </a:solidFill>
                <a:latin typeface="Times New Roman"/>
              </a:rPr>
              <a:t>0.042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481602" y="1847088"/>
            <a:ext cx="178368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corr(score, size)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was 0.263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9612758" y="1335024"/>
            <a:ext cx="2076291" cy="969264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9525">
            <a:solidFill>
              <a:srgbClr val="D2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9759062" y="1444752"/>
            <a:ext cx="178368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0141F"/>
                </a:solidFill>
                <a:latin typeface="Times New Roman"/>
              </a:rPr>
              <a:t>3,281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9759062" y="1847088"/>
            <a:ext cx="178368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events / sec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06B"/>
                </a:solidFill>
                <a:latin typeface="Arial"/>
              </a:rPr>
              <a:t>p99 0.75 ms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502920" y="2487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3E3E"/>
                </a:solidFill>
                <a:latin typeface="Arial"/>
              </a:rPr>
              <a:t>GRACEFUL DEGRADATION UNDER ATTACKER STEALTH (δ)</a:t>
            </a:r>
          </a:p>
        </p:txBody>
      </p:sp>
      <p:graphicFrame>
        <p:nvGraphicFramePr>
          <p:cNvPr id="17427" name="Chart 17426"/>
          <p:cNvGraphicFramePr>
            <a:graphicFrameLocks noGrp="1"/>
          </p:cNvGraphicFramePr>
          <p:nvPr/>
        </p:nvGraphicFramePr>
        <p:xfrm>
          <a:off x="393192" y="2761488"/>
          <a:ext cx="56235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428" name="TextBox 17427"/>
          <p:cNvSpPr txBox="1"/>
          <p:nvPr/>
        </p:nvSpPr>
        <p:spPr>
          <a:xfrm>
            <a:off x="502920" y="5138928"/>
            <a:ext cx="5486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44506B"/>
                </a:solidFill>
                <a:latin typeface="Arial"/>
              </a:rPr>
              <a:t>Both metrics fall monotonically. Incident recall is deliberately not plotted — prevalence falls across the sweep, so at low δ more campaigns compete for the same fixed budget and recall saturates against the budget, not the detector.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446520" y="2487168"/>
            <a:ext cx="5239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3E3E"/>
                </a:solidFill>
                <a:latin typeface="Arial"/>
              </a:rPr>
              <a:t>CHALLENGES → STRATEGY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446520" y="2830068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C4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6675120" y="2798064"/>
            <a:ext cx="5010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41F"/>
                </a:solidFill>
                <a:latin typeface="Arial"/>
              </a:rPr>
              <a:t>A benchmark we wrote ourselves can be gamed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675120" y="3044952"/>
            <a:ext cx="501091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06B"/>
                </a:solidFill>
                <a:latin typeface="Arial"/>
              </a:rPr>
              <a:t>Adversarial leakage gate must pass before any result counts. Config hash-frozen before the holdout seeds were generated.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446520" y="3598164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C4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6675120" y="3566160"/>
            <a:ext cx="5010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41F"/>
                </a:solidFill>
                <a:latin typeface="Arial"/>
              </a:rPr>
              <a:t>“Unusual” and “malicious” become synonyms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675120" y="3813048"/>
            <a:ext cx="501091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06B"/>
                </a:solidFill>
                <a:latin typeface="Arial"/>
              </a:rPr>
              <a:t>Benign confounders injected at 4× the attack rate — business travel, OS patches, on-call rotations, office NAT.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446520" y="4366260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C4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TextBox 17436"/>
          <p:cNvSpPr txBox="1"/>
          <p:nvPr/>
        </p:nvSpPr>
        <p:spPr>
          <a:xfrm>
            <a:off x="6675120" y="4334256"/>
            <a:ext cx="5010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41F"/>
                </a:solidFill>
                <a:latin typeface="Arial"/>
              </a:rPr>
              <a:t>0.5–3% prevalence makes accuracy meaningless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675120" y="4581144"/>
            <a:ext cx="501091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06B"/>
                </a:solidFill>
                <a:latin typeface="Arial"/>
              </a:rPr>
              <a:t>Every metric reported with its alert budget and its ceiling. R-Precision headlined because it has no prevalence artefact.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446520" y="5134356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C4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0" name="TextBox 17439"/>
          <p:cNvSpPr txBox="1"/>
          <p:nvPr/>
        </p:nvSpPr>
        <p:spPr>
          <a:xfrm>
            <a:off x="6675120" y="5102352"/>
            <a:ext cx="5010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41F"/>
                </a:solidFill>
                <a:latin typeface="Arial"/>
              </a:rPr>
              <a:t>One number says as much about the generator as the detector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675120" y="5349240"/>
            <a:ext cx="501091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06B"/>
                </a:solidFill>
                <a:latin typeface="Arial"/>
              </a:rPr>
              <a:t>δ-sweep from blatant to benign-overlapping; 17 limitations published, including three negative results.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128016"/>
            <a:ext cx="11186129" cy="841248"/>
          </a:xfrm>
        </p:spPr>
        <p:txBody>
          <a:bodyPr wrap="square"/>
          <a:lstStyle/>
          <a:p>
            <a:pPr algn="l" eaLnBrk="1" hangingPunct="1"/>
            <a:r>
              <a:rPr sz="3200" b="1">
                <a:solidFill>
                  <a:srgbClr val="10141F"/>
                </a:solidFill>
                <a:latin typeface="Times New Roman"/>
              </a:rPr>
              <a:t>ARTIFACTS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17409"/>
          <p:cNvSpPr txBox="1"/>
          <p:nvPr/>
        </p:nvSpPr>
        <p:spPr>
          <a:xfrm>
            <a:off x="502920" y="1042415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3E3E"/>
                </a:solidFill>
                <a:latin typeface="Arial"/>
              </a:rPr>
              <a:t>ANALYST CONSOLE — SIX TABS, BUILT ON STREAMLIT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6400800" y="1024128"/>
            <a:ext cx="528824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0141F"/>
                </a:solidFill>
                <a:latin typeface="Arial"/>
              </a:rPr>
              <a:t>Live: </a:t>
            </a:r>
            <a:r>
              <a:rPr sz="1000" b="0" dirty="0">
                <a:solidFill>
                  <a:srgbClr val="44506B"/>
                </a:solidFill>
                <a:latin typeface="Arial"/>
              </a:rPr>
              <a:t>anomaly-detection-gdahlrwllymdpfnxax86y5.streamlit.app</a:t>
            </a:r>
          </a:p>
        </p:txBody>
      </p:sp>
      <p:pic>
        <p:nvPicPr>
          <p:cNvPr id="17412" name="Picture 17411" descr="1785039111929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3873532" cy="1773936"/>
          </a:xfrm>
          <a:prstGeom prst="rect">
            <a:avLst/>
          </a:prstGeom>
          <a:ln w="9525">
            <a:solidFill>
              <a:srgbClr val="D2D8E3"/>
            </a:solidFill>
          </a:ln>
        </p:spPr>
      </p:pic>
      <p:sp>
        <p:nvSpPr>
          <p:cNvPr id="17413" name="TextBox 17412"/>
          <p:cNvSpPr txBox="1"/>
          <p:nvPr/>
        </p:nvSpPr>
        <p:spPr>
          <a:xfrm>
            <a:off x="502920" y="3310128"/>
            <a:ext cx="355802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41F"/>
                </a:solidFill>
                <a:latin typeface="Arial"/>
              </a:rPr>
              <a:t>Ranked alert queue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02920" y="3584448"/>
            <a:ext cx="3558021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06B"/>
                </a:solidFill>
                <a:latin typeface="Arial"/>
              </a:rPr>
              <a:t>Severity, entity, predicted attack type and score. Ranked by size-calibrated risk, not raw score.</a:t>
            </a:r>
          </a:p>
        </p:txBody>
      </p:sp>
      <p:pic>
        <p:nvPicPr>
          <p:cNvPr id="17415" name="Picture 17414" descr="178503912739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434" y="1371600"/>
            <a:ext cx="3241101" cy="1773936"/>
          </a:xfrm>
          <a:prstGeom prst="rect">
            <a:avLst/>
          </a:prstGeom>
          <a:ln w="9525">
            <a:solidFill>
              <a:srgbClr val="D2D8E3"/>
            </a:solidFill>
          </a:ln>
        </p:spPr>
      </p:pic>
      <p:sp>
        <p:nvSpPr>
          <p:cNvPr id="17416" name="TextBox 17415"/>
          <p:cNvSpPr txBox="1"/>
          <p:nvPr/>
        </p:nvSpPr>
        <p:spPr>
          <a:xfrm>
            <a:off x="4316973" y="3310128"/>
            <a:ext cx="355802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41F"/>
                </a:solidFill>
                <a:latin typeface="Arial"/>
              </a:rPr>
              <a:t>Alert detail — why it fired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316973" y="3584448"/>
            <a:ext cx="3558021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06B"/>
                </a:solidFill>
                <a:latin typeface="Arial"/>
              </a:rPr>
              <a:t>Plain-English sentence, contributing signals with values, predicted type, and analyst confirm / dismiss.</a:t>
            </a:r>
          </a:p>
        </p:txBody>
      </p:sp>
      <p:pic>
        <p:nvPicPr>
          <p:cNvPr id="17418" name="Picture 17417" descr="1785033677807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242" y="1371600"/>
            <a:ext cx="3005592" cy="1773936"/>
          </a:xfrm>
          <a:prstGeom prst="rect">
            <a:avLst/>
          </a:prstGeom>
          <a:ln w="9525">
            <a:solidFill>
              <a:srgbClr val="D2D8E3"/>
            </a:solidFill>
          </a:ln>
        </p:spPr>
      </p:pic>
      <p:sp>
        <p:nvSpPr>
          <p:cNvPr id="17419" name="TextBox 17418"/>
          <p:cNvSpPr txBox="1"/>
          <p:nvPr/>
        </p:nvSpPr>
        <p:spPr>
          <a:xfrm>
            <a:off x="8131027" y="3310128"/>
            <a:ext cx="355802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41F"/>
                </a:solidFill>
                <a:latin typeface="Arial"/>
              </a:rPr>
              <a:t>Alert volume, before and after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131027" y="3584448"/>
            <a:ext cx="3558021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06B"/>
                </a:solidFill>
                <a:latin typeface="Arial"/>
              </a:rPr>
              <a:t>A fixed threshold swung 12× day to day. A rate-based operating point makes workload predictable.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502920" y="4352544"/>
            <a:ext cx="11186129" cy="11887"/>
          </a:xfrm>
          <a:prstGeom prst="rect">
            <a:avLst/>
          </a:prstGeom>
          <a:solidFill>
            <a:srgbClr val="D2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502920" y="4535424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3E3E"/>
                </a:solidFill>
                <a:latin typeface="Arial"/>
              </a:rPr>
              <a:t>CODE — 13 MODULES, 13 HAND-COMPUTED METRIC TESTS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02920" y="484632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0141F"/>
                </a:solidFill>
                <a:latin typeface="Arial"/>
              </a:rPr>
              <a:t>generator.py  </a:t>
            </a:r>
            <a:r>
              <a:rPr sz="950" b="0">
                <a:solidFill>
                  <a:srgbClr val="44506B"/>
                </a:solidFill>
                <a:latin typeface="Arial"/>
              </a:rPr>
              <a:t>synthetic log generator + attack injection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02920" y="5088636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0141F"/>
                </a:solidFill>
                <a:latin typeface="Arial"/>
              </a:rPr>
              <a:t>audit.py  </a:t>
            </a:r>
            <a:r>
              <a:rPr sz="950" b="0">
                <a:solidFill>
                  <a:srgbClr val="44506B"/>
                </a:solidFill>
                <a:latin typeface="Arial"/>
              </a:rPr>
              <a:t>adversarial leakage gate — runs first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02920" y="5330951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0141F"/>
                </a:solidFill>
                <a:latin typeface="Arial"/>
              </a:rPr>
              <a:t>features.py / sequence.py  </a:t>
            </a:r>
            <a:r>
              <a:rPr sz="950" b="0">
                <a:solidFill>
                  <a:srgbClr val="44506B"/>
                </a:solidFill>
                <a:latin typeface="Arial"/>
              </a:rPr>
              <a:t>L0–L2 signals, bounded streaming state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502920" y="5573267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0141F"/>
                </a:solidFill>
                <a:latin typeface="Arial"/>
              </a:rPr>
              <a:t>detector.py  </a:t>
            </a:r>
            <a:r>
              <a:rPr sz="950" b="0">
                <a:solidFill>
                  <a:srgbClr val="44506B"/>
                </a:solidFill>
                <a:latin typeface="Arial"/>
              </a:rPr>
              <a:t>fusion, calibration, type rules, explanation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02920" y="5815583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0141F"/>
                </a:solidFill>
                <a:latin typeface="Arial"/>
              </a:rPr>
              <a:t>ablation.py / drift.py / experiments.py  </a:t>
            </a:r>
            <a:r>
              <a:rPr sz="950" b="0">
                <a:solidFill>
                  <a:srgbClr val="44506B"/>
                </a:solidFill>
                <a:latin typeface="Arial"/>
              </a:rPr>
              <a:t>layer ablation, poisoning arms, δ-sweep + holdout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675120" y="4498848"/>
            <a:ext cx="5010912" cy="1572768"/>
          </a:xfrm>
          <a:prstGeom prst="roundRect">
            <a:avLst>
              <a:gd name="adj" fmla="val 6000"/>
            </a:avLst>
          </a:prstGeom>
          <a:solidFill>
            <a:srgbClr val="10141F"/>
          </a:solidFill>
          <a:ln w="9525">
            <a:solidFill>
              <a:srgbClr val="101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6967728" y="470001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E8E"/>
                </a:solidFill>
                <a:latin typeface="Arial"/>
              </a:rPr>
              <a:t>REPRODUCIBILITY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967728" y="4992624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Config hash-frozen to 10284ea8d70452c5 before the holdout seeds were generated, and re-verified at scoring time.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7CEDE"/>
                </a:solidFill>
                <a:latin typeface="Arial"/>
              </a:rPr>
              <a:t>“We did not tune on the holdout” is checkable, not asserted. Every dataset regenerates byte-identically from its seed.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2920" y="128016"/>
            <a:ext cx="11186129" cy="841248"/>
          </a:xfrm>
        </p:spPr>
        <p:txBody>
          <a:bodyPr wrap="square"/>
          <a:lstStyle/>
          <a:p>
            <a:pPr algn="l" eaLnBrk="1" hangingPunct="1"/>
            <a:r>
              <a:rPr sz="3200" b="1">
                <a:solidFill>
                  <a:srgbClr val="10141F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17409"/>
          <p:cNvSpPr txBox="1"/>
          <p:nvPr/>
        </p:nvSpPr>
        <p:spPr>
          <a:xfrm>
            <a:off x="502920" y="1042415"/>
            <a:ext cx="111861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3E3E"/>
                </a:solidFill>
                <a:latin typeface="Arial"/>
              </a:rPr>
              <a:t>PROJECT ARTEFACTS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335024"/>
            <a:ext cx="11186129" cy="790955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9525">
            <a:solidFill>
              <a:srgbClr val="D2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758952" y="1481328"/>
            <a:ext cx="10674065" cy="402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1" dirty="0">
                <a:solidFill>
                  <a:srgbClr val="10141F"/>
                </a:solidFill>
                <a:latin typeface="Arial"/>
              </a:rPr>
              <a:t>Live analyst console   </a:t>
            </a:r>
            <a:r>
              <a:rPr lang="en-US" sz="1150" b="1" dirty="0">
                <a:solidFill>
                  <a:srgbClr val="10141F"/>
                </a:solidFill>
                <a:latin typeface="Arial"/>
              </a:rPr>
              <a:t>-  </a:t>
            </a:r>
            <a:r>
              <a:rPr lang="en-US" sz="1150" b="1" dirty="0">
                <a:solidFill>
                  <a:srgbClr val="10141F"/>
                </a:solidFill>
                <a:latin typeface="Arial"/>
                <a:hlinkClick r:id="rId2"/>
              </a:rPr>
              <a:t>https://anomaly-detection-gdahlrwllymdpfnxax86y5.streamlit.app/</a:t>
            </a:r>
            <a:endParaRPr lang="en-US" sz="1150" b="1" dirty="0">
              <a:solidFill>
                <a:srgbClr val="10141F"/>
              </a:solidFill>
              <a:latin typeface="Arial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10141F"/>
                </a:solidFill>
                <a:latin typeface="Arial"/>
              </a:rPr>
              <a:t>Repository</a:t>
            </a:r>
            <a:r>
              <a:rPr lang="en-US" sz="1050" b="1" dirty="0">
                <a:solidFill>
                  <a:srgbClr val="10141F"/>
                </a:solidFill>
                <a:latin typeface="Arial"/>
              </a:rPr>
              <a:t> - </a:t>
            </a:r>
            <a:r>
              <a:rPr sz="1050" b="1" dirty="0">
                <a:solidFill>
                  <a:srgbClr val="10141F"/>
                </a:solidFill>
                <a:latin typeface="Arial"/>
              </a:rPr>
              <a:t> </a:t>
            </a:r>
            <a:r>
              <a:rPr lang="en-IN" sz="1050" b="1" dirty="0">
                <a:solidFill>
                  <a:srgbClr val="10141F"/>
                </a:solidFill>
                <a:latin typeface="Arial"/>
              </a:rPr>
              <a:t>https://github.com/pranatisri/anomaly-detection </a:t>
            </a:r>
            <a:r>
              <a:rPr sz="1000" b="1" dirty="0">
                <a:solidFill>
                  <a:srgbClr val="10141F"/>
                </a:solidFill>
                <a:latin typeface="Arial"/>
              </a:rPr>
              <a:t>Documentation</a:t>
            </a:r>
            <a:endParaRPr sz="1000" b="0" dirty="0">
              <a:solidFill>
                <a:srgbClr val="44506B"/>
              </a:solidFill>
              <a:latin typeface="Arial"/>
            </a:endParaRPr>
          </a:p>
        </p:txBody>
      </p:sp>
      <p:sp>
        <p:nvSpPr>
          <p:cNvPr id="17413" name="TextBox 17412"/>
          <p:cNvSpPr txBox="1"/>
          <p:nvPr/>
        </p:nvSpPr>
        <p:spPr>
          <a:xfrm>
            <a:off x="502920" y="2523744"/>
            <a:ext cx="111861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3E3E"/>
                </a:solidFill>
                <a:latin typeface="Arial"/>
              </a:rPr>
              <a:t>METHODS AND STANDARDS REFERENCED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2848356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C4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731520" y="2816352"/>
            <a:ext cx="51998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41F"/>
                </a:solidFill>
                <a:latin typeface="Arial"/>
              </a:rPr>
              <a:t>Stouffer’s Z with correlated tests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31520" y="3063240"/>
            <a:ext cx="5199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06B"/>
                </a:solidFill>
                <a:latin typeface="Arial"/>
              </a:rPr>
              <a:t>Stouffer et al. (1949); Whitlock, J. Evol. Biol. (2005) — weighted meta-analytic combination and the √(wᵀΣw) correction.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02920" y="3762756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C4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731520" y="3730752"/>
            <a:ext cx="51998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41F"/>
                </a:solidFill>
                <a:latin typeface="Arial"/>
              </a:rPr>
              <a:t>Precision–recall under extreme imbalance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31520" y="3977639"/>
            <a:ext cx="5199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06B"/>
                </a:solidFill>
                <a:latin typeface="Arial"/>
              </a:rPr>
              <a:t>Saito &amp; Rehmsmeier, PLOS ONE (2015) — why ROC-AUC is optimistic and PR curves are the honest view at low prevalence.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02920" y="4677156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C4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731520" y="4645152"/>
            <a:ext cx="51998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41F"/>
                </a:solidFill>
                <a:latin typeface="Arial"/>
              </a:rPr>
              <a:t>Empirical-Bayes shrinkage for cold start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31520" y="4892040"/>
            <a:ext cx="5199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06B"/>
                </a:solidFill>
                <a:latin typeface="Arial"/>
              </a:rPr>
              <a:t>Efron &amp; Morris (1975) — pooling a new entity toward its cohort prior with weight n/(n+k).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260576" y="2848356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C4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6489176" y="2816352"/>
            <a:ext cx="51998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41F"/>
                </a:solidFill>
                <a:latin typeface="Arial"/>
              </a:rPr>
              <a:t>Behavioural analytics / UEBA framing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489176" y="3063240"/>
            <a:ext cx="5199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06B"/>
                </a:solidFill>
                <a:latin typeface="Arial"/>
              </a:rPr>
              <a:t>Gartner UEBA market definition; MITRE ATT&amp;CK techniques T1110 Brute Force, T1078 Valid Accounts, T1021 Remote Services.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260576" y="3762756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C4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6489176" y="3730752"/>
            <a:ext cx="51998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41F"/>
                </a:solidFill>
                <a:latin typeface="Arial"/>
              </a:rPr>
              <a:t>Public intrusion-detection benchmarks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489176" y="3977639"/>
            <a:ext cx="5199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06B"/>
                </a:solidFill>
                <a:latin typeface="Arial"/>
              </a:rPr>
              <a:t>CICIDS2017 (Sharafaldin et al.) and UNSW-NB15 (Moustafa &amp; Slay) — surveyed; both motivated generating labelled campaign-level data instead.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260576" y="4677156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C4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6489176" y="4645152"/>
            <a:ext cx="51998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41F"/>
                </a:solidFill>
                <a:latin typeface="Arial"/>
              </a:rPr>
              <a:t>Dataset artefacts and leakage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489176" y="4892040"/>
            <a:ext cx="5199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06B"/>
                </a:solidFill>
                <a:latin typeface="Arial"/>
              </a:rPr>
              <a:t>Arp et al., “Dos and Don’ts of Machine Learning in Computer Security”, USENIX Security (2022) — the direct motivation for the audit gate.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02920" y="5632704"/>
            <a:ext cx="11186129" cy="54864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9525">
            <a:solidFill>
              <a:srgbClr val="D2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758952" y="5760720"/>
            <a:ext cx="1067406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141F"/>
                </a:solidFill>
                <a:latin typeface="Arial"/>
              </a:rPr>
              <a:t>Tooling  </a:t>
            </a:r>
            <a:r>
              <a:rPr sz="1000" b="0">
                <a:solidFill>
                  <a:srgbClr val="44506B"/>
                </a:solidFill>
                <a:latin typeface="Arial"/>
              </a:rPr>
              <a:t>Python 3 · NumPy · pandas · LightGBM · scikit-learn · Matplotlib · Streamlit · Parquet. All data synthetic; labels held physically separate from every path the detector can read.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7678</TotalTime>
  <Words>1124</Words>
  <Application>Microsoft Office PowerPoint</Application>
  <PresentationFormat>Widescreen</PresentationFormat>
  <Paragraphs>173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Times New Roman</vt:lpstr>
      <vt:lpstr>TradeGothic</vt:lpstr>
      <vt:lpstr>Office Theme</vt:lpstr>
      <vt:lpstr>PowerPoint Presentation</vt:lpstr>
      <vt:lpstr>PROPOSED SOLUTION</vt:lpstr>
      <vt:lpstr>TECHNICAL APPROACH</vt:lpstr>
      <vt:lpstr>FEASIBILITY AND VIABILITY</vt:lpstr>
      <vt:lpstr>ARTIFACTS</vt:lpstr>
      <vt:lpstr>RESEARCH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dc:creator>Pranati</dc:creator>
  <cp:keywords/>
  <dc:description/>
  <cp:lastModifiedBy>Pranati Vemula</cp:lastModifiedBy>
  <cp:revision>154</cp:revision>
  <dcterms:created xsi:type="dcterms:W3CDTF">2013-12-12T18:46:50Z</dcterms:created>
  <dcterms:modified xsi:type="dcterms:W3CDTF">2026-07-26T10:26:09Z</dcterms:modified>
  <cp:category/>
</cp:coreProperties>
</file>